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03" autoAdjust="0"/>
  </p:normalViewPr>
  <p:slideViewPr>
    <p:cSldViewPr snapToGrid="0">
      <p:cViewPr varScale="1">
        <p:scale>
          <a:sx n="60" d="100"/>
          <a:sy n="60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slide. Add the Google Form URL and a contact email before sharing. Edition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lycoded/samsung_prism_final_submission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lOkclRvr-2hIA05pVYTHJVVCGAQOb2u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- 4 (Streaming Live RAG)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ByteForce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VIT Vellore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Vanshika Pathak (vanshika.pathak2024@vitstudent.ac.in)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John Poly (john.poly2024@vitstudent.ac.in)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Liz Alex (liz.alex2024@vitstudent.ac.in)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Shreya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Shirsh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(shreya.shirsh@vitstudent.ac.in)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Polycoded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/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samsung_prism_final_submission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None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4: Streaming Live RAG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Real-time incremental retrieval, multi-intent decomposition and state-preserving answer refinement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800"/>
              <a:buNone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Listen incrementally: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predict retrieval intent on timestamped transcript chunks before the user finishes speaking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Decompose: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identify and parallelize retrieval for multiple sub-questions in one utterance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Refine, don't restart: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update only affected claims when a late constraint arrives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Guarantee grounding: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every claim cites the corpus; abstain when evidence is insufficient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800"/>
              <a:buNone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Hard constraints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Corpus isolation · no hardcoding · cited claims only · session-bound memory · architectural parsimony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700"/>
              <a:buNone/>
            </a:pP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Existing solutions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Batch RAG: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user finishes, query is submitted, system searches, then answers. Nothing starts until the utterance ends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Restart-on-correction pipelines: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 late clarification discards context and re-runs retrieval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Generative answer layers: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fluent, but can produce fabricated citations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700"/>
              <a:buNone/>
            </a:pP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Gaps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Latency: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multi-second pauses in voice and live-support settings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Compound requests: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several needs in one breath get answered as one blurred query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Late constraints: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context and cited evidence are lost on every correction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Grounding: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no reliable way to say "the corpus does not support this"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Noise: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retrieving on every token thrashes compute; presentation-only turns trigger needless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500000"/>
            <a:ext cx="105156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Non-generative Streaming Live RAG: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answers are exact extracts from the active corpus. No LLM, no external source, no generated citations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Tentative work is cheap, final claims are strict: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early candidates must be revalidated against the committed transcript before they can support an answer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Corrections bump a session generation,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so superseded async results can never mutate the answer</a:t>
            </a:r>
          </a:p>
        </p:txBody>
      </p:sp>
      <p:sp>
        <p:nvSpPr>
          <p:cNvPr id="300" name="Flow 0"/>
          <p:cNvSpPr/>
          <p:nvPr/>
        </p:nvSpPr>
        <p:spPr>
          <a:xfrm>
            <a:off x="838200" y="3400000"/>
            <a:ext cx="1260000" cy="1700000"/>
          </a:xfrm>
          <a:prstGeom prst="roundRect">
            <a:avLst/>
          </a:prstGeom>
          <a:solidFill>
            <a:srgbClr val="F1ECF8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3B2A5E"/>
                </a:solidFill>
                <a:latin typeface="Calibri"/>
                <a:ea typeface="Calibri"/>
                <a:cs typeface="Calibri"/>
                <a:sym typeface="Calibri"/>
              </a:rPr>
              <a:t>Transcript stream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timestamped chunks</a:t>
            </a:r>
          </a:p>
        </p:txBody>
      </p:sp>
      <p:sp>
        <p:nvSpPr>
          <p:cNvPr id="350" name="Arrow 0"/>
          <p:cNvSpPr/>
          <p:nvPr/>
        </p:nvSpPr>
        <p:spPr>
          <a:xfrm>
            <a:off x="21282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Flow 1"/>
          <p:cNvSpPr/>
          <p:nvPr/>
        </p:nvSpPr>
        <p:spPr>
          <a:xfrm>
            <a:off x="2380800" y="3400000"/>
            <a:ext cx="1260000" cy="170000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controller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E4DAF2"/>
                </a:solidFill>
                <a:latin typeface="Calibri"/>
                <a:ea typeface="Calibri"/>
                <a:cs typeface="Calibri"/>
                <a:sym typeface="Calibri"/>
              </a:rPr>
              <a:t>WAIT / retrieve / commit / suppress</a:t>
            </a:r>
          </a:p>
        </p:txBody>
      </p:sp>
      <p:sp>
        <p:nvSpPr>
          <p:cNvPr id="351" name="Arrow 1"/>
          <p:cNvSpPr/>
          <p:nvPr/>
        </p:nvSpPr>
        <p:spPr>
          <a:xfrm>
            <a:off x="36708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Flow 2"/>
          <p:cNvSpPr/>
          <p:nvPr/>
        </p:nvSpPr>
        <p:spPr>
          <a:xfrm>
            <a:off x="3923400" y="3400000"/>
            <a:ext cx="1260000" cy="170000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Intent tagger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E4DAF2"/>
                </a:solidFill>
                <a:latin typeface="Calibri"/>
                <a:ea typeface="Calibri"/>
                <a:cs typeface="Calibri"/>
                <a:sym typeface="Calibri"/>
              </a:rPr>
              <a:t>DistilBERT, spaCy fallback</a:t>
            </a:r>
          </a:p>
        </p:txBody>
      </p:sp>
      <p:sp>
        <p:nvSpPr>
          <p:cNvPr id="352" name="Arrow 2"/>
          <p:cNvSpPr/>
          <p:nvPr/>
        </p:nvSpPr>
        <p:spPr>
          <a:xfrm>
            <a:off x="52134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low 3"/>
          <p:cNvSpPr/>
          <p:nvPr/>
        </p:nvSpPr>
        <p:spPr>
          <a:xfrm>
            <a:off x="5466000" y="3400000"/>
            <a:ext cx="1260000" cy="1700000"/>
          </a:xfrm>
          <a:prstGeom prst="roundRect">
            <a:avLst/>
          </a:prstGeom>
          <a:solidFill>
            <a:srgbClr val="F1ECF8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3B2A5E"/>
                </a:solidFill>
                <a:latin typeface="Calibri"/>
                <a:ea typeface="Calibri"/>
                <a:cs typeface="Calibri"/>
                <a:sym typeface="Calibri"/>
              </a:rPr>
              <a:t>Parallel retrieval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per intent, hybrid + rerank</a:t>
            </a:r>
          </a:p>
        </p:txBody>
      </p:sp>
      <p:sp>
        <p:nvSpPr>
          <p:cNvPr id="353" name="Arrow 3"/>
          <p:cNvSpPr/>
          <p:nvPr/>
        </p:nvSpPr>
        <p:spPr>
          <a:xfrm>
            <a:off x="67560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Flow 4"/>
          <p:cNvSpPr/>
          <p:nvPr/>
        </p:nvSpPr>
        <p:spPr>
          <a:xfrm>
            <a:off x="7008600" y="3400000"/>
            <a:ext cx="1260000" cy="1700000"/>
          </a:xfrm>
          <a:prstGeom prst="roundRect">
            <a:avLst/>
          </a:prstGeom>
          <a:solidFill>
            <a:srgbClr val="F1ECF8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3B2A5E"/>
                </a:solidFill>
                <a:latin typeface="Calibri"/>
                <a:ea typeface="Calibri"/>
                <a:cs typeface="Calibri"/>
                <a:sym typeface="Calibri"/>
              </a:rPr>
              <a:t>Revalidation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against final transcript</a:t>
            </a:r>
          </a:p>
        </p:txBody>
      </p:sp>
      <p:sp>
        <p:nvSpPr>
          <p:cNvPr id="354" name="Arrow 4"/>
          <p:cNvSpPr/>
          <p:nvPr/>
        </p:nvSpPr>
        <p:spPr>
          <a:xfrm>
            <a:off x="82986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Flow 5"/>
          <p:cNvSpPr/>
          <p:nvPr/>
        </p:nvSpPr>
        <p:spPr>
          <a:xfrm>
            <a:off x="8551200" y="3400000"/>
            <a:ext cx="1260000" cy="1700000"/>
          </a:xfrm>
          <a:prstGeom prst="roundRect">
            <a:avLst/>
          </a:prstGeom>
          <a:solidFill>
            <a:srgbClr val="F1ECF8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3B2A5E"/>
                </a:solidFill>
                <a:latin typeface="Calibri"/>
                <a:ea typeface="Calibri"/>
                <a:cs typeface="Calibri"/>
                <a:sym typeface="Calibri"/>
              </a:rPr>
              <a:t>Extract or abstain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exact source text</a:t>
            </a:r>
          </a:p>
        </p:txBody>
      </p:sp>
      <p:sp>
        <p:nvSpPr>
          <p:cNvPr id="355" name="Arrow 5"/>
          <p:cNvSpPr/>
          <p:nvPr/>
        </p:nvSpPr>
        <p:spPr>
          <a:xfrm>
            <a:off x="9841200" y="4140000"/>
            <a:ext cx="222600" cy="220000"/>
          </a:xfrm>
          <a:prstGeom prst="rightArrow">
            <a:avLst/>
          </a:prstGeom>
          <a:solidFill>
            <a:srgbClr val="704E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Flow 6"/>
          <p:cNvSpPr/>
          <p:nvPr/>
        </p:nvSpPr>
        <p:spPr>
          <a:xfrm>
            <a:off x="10093800" y="3400000"/>
            <a:ext cx="1260000" cy="1700000"/>
          </a:xfrm>
          <a:prstGeom prst="roundRect">
            <a:avLst/>
          </a:prstGeom>
          <a:solidFill>
            <a:srgbClr val="F1ECF8"/>
          </a:solidFill>
          <a:ln>
            <a:noFill/>
          </a:ln>
        </p:spPr>
        <p:txBody>
          <a:bodyPr wrap="square" lIns="54000" tIns="54000" rIns="54000" bIns="54000" anchor="ctr">
            <a:noAutofit/>
          </a:bodyPr>
          <a:lstStyle/>
          <a:p>
            <a:pPr algn="ctr"/>
            <a:r>
              <a:rPr lang="en-US" sz="1400" b="1">
                <a:solidFill>
                  <a:srgbClr val="3B2A5E"/>
                </a:solidFill>
                <a:latin typeface="Calibri"/>
                <a:ea typeface="Calibri"/>
                <a:cs typeface="Calibri"/>
                <a:sym typeface="Calibri"/>
              </a:rPr>
              <a:t>Versioned output</a:t>
            </a:r>
          </a:p>
          <a:p>
            <a:pPr algn="ctr">
              <a:spcBef>
                <a:spcPts val="400"/>
              </a:spcBef>
            </a:pPr>
            <a:r>
              <a:rPr lang="en-US" sz="11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claims, citations,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700"/>
              <a:buNone/>
            </a:pP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Live walkthrough (local web app, text-only)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1. Messy transcript: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"umm / what what / uh / erm" input; retrieval starts before the final transcript is committed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2. Multi-intent: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three BERT-separated intents, three independently cited extracts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3. Citation inspector: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exact source text, section, offsets and retrieval event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4. Correction (S1 → S2):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stale evidence is discarded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5. Late detail: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only the affected claim changes; other citations are kept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6. Formatting request ("two bullets"):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retrieval suppressed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7. Unsupported question: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uncited, explicit abstention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8. Validation and Organizer corpus panels:</a:t>
            </a: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G2–G4 evidence; upload docs + labeled benchmark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700"/>
              <a:buChar char="•"/>
            </a:pPr>
            <a:r>
              <a:rPr lang="en-US" sz="17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 (≤5 min): [add YouTube / Drive link]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Boundary detection: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DistilBERT intent-boundary tagger (trained on ATIS/SNIPS), guarded auto mode; spaCy dependency rules as fallback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Retrieval: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BM25 + MiniLM hybrid (dense/sparse), cross-encoder reranking, per-intent parallel search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Runtime: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Python WebSocket service streaming timestamped events; versioned claims and structured telemetry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browser UI with session trace, citation inspector, GSAP motion (reduced-motion supported)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Packaging: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Docker Compose single-command run; Git LFS for the promoted checkpoint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Testing: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unittest suites (58 prototype + 13 core), 60-scenario replay, browser checks at 390 / 768 / 1440 px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No LLM and no external answer source: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answers are exact corpus extracts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None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Who benefits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Voice and live-support assistants: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answers begin forming while the caller is still speaking, which cuts perceived latency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Multi-part requests: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one utterance asking about capacity, cancellation and catering gets three separately cited answers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Regulated or policy-heavy answers: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every claim is an exact, inspectable corpus extract, so there are no fabricated citations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Corrections mid-conversation: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users change details without losing prior context or repeating themselves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800"/>
              <a:buNone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Venue / event booking support · policy and reimbursement lookup · customer-support copilots · any bounded-corpus Q&amp;A where trust matters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500"/>
              <a:buNone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Guarded model-first controller: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BERT spans served only when high-confidence and structurally valid, otherwise rule-based fallback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Revalidation gate: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tentative early candidates cannot support a final claim until checked against the committed transcript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Generation-based staleness control</a:t>
            </a: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and claim-level refinement instead of restart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500"/>
              <a:buNone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Results (local acceptance set, 60 scenarios)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G1 replay 60/60 · G2 early retrieval 37/40 (92.5%, target ≥80%) · G3 compound 15/15 (target ≥70%)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G4 supported extracts 90/90, 0 fabricated IDs (target ≥85%) · G5 refinement 10/10 · G6 trace coverage 985/985</a:t>
            </a:r>
          </a:p>
          <a:p>
            <a:pPr marL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63637E"/>
              </a:buClr>
              <a:buSzPts val="1500"/>
              <a:buNone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Results are on a fictional LumaHome control corpus and author-known acceptance set, not official Samsung scores or a blind benchmark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5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Official organizer-corpus validation pending · text only, no voice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0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Organizer-corpus validation:</a:t>
            </a:r>
            <a:r>
              <a:rPr lang="en-US" sz="20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run the uploaded conference documents and labeled benchmark and report separately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0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Voice front end:</a:t>
            </a:r>
            <a:r>
              <a:rPr lang="en-US" sz="20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add streaming ASR so transcript chunks come from live speech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0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Broader evaluation:</a:t>
            </a:r>
            <a:r>
              <a:rPr lang="en-US" sz="20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larger multi-domain, independently labeled held-out set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0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Learned retrieval controller:</a:t>
            </a:r>
            <a:r>
              <a:rPr lang="en-US" sz="20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replace stability heuristics with a trained WAIT / retrieve / suppress policy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0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Latency and cost profiling:</a:t>
            </a:r>
            <a:r>
              <a:rPr lang="en-US" sz="20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per-stage budgets under real streaming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Zero fabricated citations by construction: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claims are copied extracts from active-corpus chunks, with IDs checked against the committed candidate set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Abstains instead of guessing: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explicit uncited uncertainty when the corpus cannot support an answer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Stale-result protection: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session generations discard superseded async retrievals after corrections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Model with a safety net: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trained boundary tagger plus rule fallback, with live BERT-served count, min confidence and fallback count on screen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Full observability: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985/985 trace coverage; every citation opens to exact text, section and offsets</a:t>
            </a:r>
          </a:p>
          <a:p>
            <a:pPr marL="177800" lvl="0" indent="-1778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Judge-ready:</a:t>
            </a:r>
            <a:r>
              <a:rPr lang="en-US" sz="1800" b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one-command Docker run, organizer corpus upload and labeled benchmark built 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(Y)</a:t>
            </a:r>
            <a:endParaRPr sz="24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(Y)</a:t>
            </a:r>
            <a:endParaRPr sz="2400" dirty="0"/>
          </a:p>
          <a:p>
            <a:pPr marL="177800" lvl="0" indent="-177800">
              <a:spcBef>
                <a:spcPts val="1500"/>
              </a:spcBef>
              <a:buClr>
                <a:srgbClr val="63637E"/>
              </a:buClr>
              <a:buSzPts val="2800"/>
            </a:pPr>
            <a:r>
              <a:rPr lang="en-US" sz="24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</a:t>
            </a:r>
            <a:r>
              <a:rPr lang="en-US" sz="2400" dirty="0">
                <a:solidFill>
                  <a:srgbClr val="63637E"/>
                </a:solidFill>
                <a:hlinkClick r:id="rId3"/>
              </a:rPr>
              <a:t>https://drive.google.com/file/d/14lOkclRvr-2hIA05pVYTHJVVCGAQOb2u/view?usp=sharing</a:t>
            </a:r>
            <a:r>
              <a:rPr lang="en-US" sz="24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): [add link]</a:t>
            </a:r>
            <a:endParaRPr sz="24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4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(Y)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1276</Words>
  <Application>Microsoft Office PowerPoint</Application>
  <PresentationFormat>Widescreen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Vanshika Pathak</cp:lastModifiedBy>
  <cp:revision>4</cp:revision>
  <dcterms:created xsi:type="dcterms:W3CDTF">2026-09-07T12:01:01Z</dcterms:created>
  <dcterms:modified xsi:type="dcterms:W3CDTF">2026-09-30T19:51:51Z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